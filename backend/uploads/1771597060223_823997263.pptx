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8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2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10234613" cy="70993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2FE2445B-345C-40C6-9C97-276BBC455B2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2989440" y="887400"/>
            <a:ext cx="4253400" cy="2392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4960" cy="2792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5797080" y="6743160"/>
            <a:ext cx="4431960" cy="35316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FD9A2C-B6E3-46B5-934B-25EA8169700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6280" cy="23925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4960" cy="2792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5"/>
          </p:nvPr>
        </p:nvSpPr>
        <p:spPr>
          <a:xfrm>
            <a:off x="5797080" y="6743160"/>
            <a:ext cx="4431960" cy="35316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7A3E9F-96B2-400C-BE11-3F04C6EBEDD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0" y="7635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4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1760" cy="5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C2658D-D140-444E-AEB2-5888CE43943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2987640" y="887400"/>
            <a:ext cx="4256280" cy="2392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1023480" y="3416400"/>
            <a:ext cx="8184960" cy="279252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"/>
          </p:nvPr>
        </p:nvSpPr>
        <p:spPr>
          <a:xfrm>
            <a:off x="5797080" y="6743160"/>
            <a:ext cx="4431960" cy="353160"/>
          </a:xfrm>
          <a:prstGeom prst="rect">
            <a:avLst/>
          </a:prstGeom>
          <a:noFill/>
          <a:ln w="0">
            <a:noFill/>
          </a:ln>
        </p:spPr>
        <p:txBody>
          <a:bodyPr lIns="98280" rIns="98280" tIns="48960" bIns="4896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4BA7A5-FDF1-4F7F-B20F-A25D2C500DA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  <a:ea typeface="+mn-ea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92520" y="165240"/>
            <a:ext cx="1061388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20FAD2BA-B088-43F0-902C-859CEDBF5415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0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225F64AD-62F5-4E49-A9D7-5B311D545CC0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0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ADF77805-7D4A-4AB0-BDE1-8729964575F6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C6BAC900-82C4-418C-AF75-FCED14F3FA6C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2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BJEC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79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FC48DD86-C8D7-4536-9401-6390E9C884C3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0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7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37DE4C79-6B65-4E06-8993-368F7176FD18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8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095160" y="1091160"/>
            <a:ext cx="551628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300240" y="372096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6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CA2F02E4-A9E3-45D2-809A-09B2CC193B4B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7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3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5854F1BD-DB0F-477D-BBB2-E517D8674BDA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4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0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D3A07333-267D-494F-974A-009FC37E3A8D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1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7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97201BBD-F6B0-4738-A6BD-C854FB305639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8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4" name="Google Shape;22;p3"/>
          <p:cNvSpPr/>
          <p:nvPr/>
        </p:nvSpPr>
        <p:spPr>
          <a:xfrm>
            <a:off x="153360" y="6537960"/>
            <a:ext cx="4532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fld id="{9DA24D5B-086B-4670-8753-D60B8583C8CA}" type="slidenum">
              <a:rPr b="1" lang="en-US" sz="1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5" name="Google Shape;23;p3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92520" y="35424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Google Shape;43;p8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Google Shape;48;p9"/>
          <p:cNvSpPr/>
          <p:nvPr/>
        </p:nvSpPr>
        <p:spPr>
          <a:xfrm>
            <a:off x="762120" y="650772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Google Shape;53;p10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Google Shape;57;p11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2;p1" descr="hor_blaa_stripe.jpg"/>
          <p:cNvPicPr/>
          <p:nvPr/>
        </p:nvPicPr>
        <p:blipFill>
          <a:blip r:embed="rId2"/>
          <a:stretch/>
        </p:blipFill>
        <p:spPr>
          <a:xfrm>
            <a:off x="0" y="6489720"/>
            <a:ext cx="12189240" cy="3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13;p1" descr=""/>
          <p:cNvPicPr/>
          <p:nvPr/>
        </p:nvPicPr>
        <p:blipFill>
          <a:blip r:embed="rId3"/>
          <a:stretch/>
        </p:blipFill>
        <p:spPr>
          <a:xfrm>
            <a:off x="0" y="23760"/>
            <a:ext cx="963000" cy="9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Google Shape;14;p1"/>
          <p:cNvSpPr/>
          <p:nvPr/>
        </p:nvSpPr>
        <p:spPr>
          <a:xfrm>
            <a:off x="0" y="6488640"/>
            <a:ext cx="12189240" cy="63828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                                                                                                                                            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Google Shape;61;p12"/>
          <p:cNvSpPr/>
          <p:nvPr/>
        </p:nvSpPr>
        <p:spPr>
          <a:xfrm>
            <a:off x="762120" y="6501240"/>
            <a:ext cx="11427120" cy="363960"/>
          </a:xfrm>
          <a:prstGeom prst="rect">
            <a:avLst/>
          </a:pr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BCA Program, Butwal Kalika Campus , TU Nepal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92520" y="353880"/>
            <a:ext cx="10613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pdfs.semanticscholar.org/e490/391aa7fb697d43afdd061054d39e" TargetMode="External"/><Relationship Id="rId2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46400" y="2220840"/>
            <a:ext cx="11122200" cy="119196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600"/>
            </a:b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LM Roman 12"/>
              </a:rPr>
              <a:t> E-Learning - A E-Learning platform</a:t>
            </a:r>
            <a:br>
              <a:rPr sz="3600"/>
            </a:br>
            <a:endParaRPr b="0" lang="en-US" sz="3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5" name="Google Shape;68;p13"/>
          <p:cNvSpPr/>
          <p:nvPr/>
        </p:nvSpPr>
        <p:spPr>
          <a:xfrm>
            <a:off x="957960" y="185400"/>
            <a:ext cx="10910160" cy="13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Department of Computer Application</a:t>
            </a:r>
            <a:br>
              <a:rPr sz="2400"/>
            </a:b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Butwal Kalika Campus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Butwal-10,Rupandehi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6" name="Google Shape;69;p13"/>
          <p:cNvSpPr/>
          <p:nvPr/>
        </p:nvSpPr>
        <p:spPr>
          <a:xfrm>
            <a:off x="446400" y="3973680"/>
            <a:ext cx="11543040" cy="17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Students: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Anupam Baral and Bibek Dangal   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                  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Coordinator: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Aashish Neupane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7" name="Google Shape;70;p13"/>
          <p:cNvSpPr/>
          <p:nvPr/>
        </p:nvSpPr>
        <p:spPr>
          <a:xfrm>
            <a:off x="4430520" y="5934600"/>
            <a:ext cx="3153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Date : 2082/11/09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8" name="Google Shape;71;p13"/>
          <p:cNvSpPr/>
          <p:nvPr/>
        </p:nvSpPr>
        <p:spPr>
          <a:xfrm>
            <a:off x="446400" y="1809000"/>
            <a:ext cx="5496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Project I Proposal Mid Defense 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92520" y="281520"/>
            <a:ext cx="10613880" cy="46548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89400" y="955440"/>
            <a:ext cx="10460160" cy="561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Statement of Problem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Objectives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Literature review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Related Projects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Your Contribution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Proposal Approach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Methodology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Expected Outcome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References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343080" indent="-19044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00240" y="914400"/>
            <a:ext cx="11306160" cy="54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E-Learning is education delivered via the Internet, networks, or standalone systems, using electronic media to facilitate skill and knowledge transfer.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It supports interaction between students and lecturers and distributes course materials online, leveraging technology for learning.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Rising demand for cost-effective education, government support for online learning, and widespread smartphone and Internet access fuel E-Learning growth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E-Learning is critical in the Information and Knowledge Age, enabling efficient acquisition, storage, and application of knowledge for organizational success.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E-Learning bridges learning and work by using the same tools and technologies, making it easier to incorporate education into professional environments.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SkillUp is an E-Learning platform offering flexible, device-based training in fields like Machine Learning and Programming, with real-time interaction for individual and group classes.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Statement of the Problem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203040" y="114300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Inefficient Assignment Submission: Students submit assignments via hard copies or personal emails, lacking a streamlined process.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Lack of Centralized Materials for Lecturers: New lecturers must independently source course materials, leading to inconsistency and inefficiency.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Mandatory Physical Presence:  Students must attend classes in person 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Absence of Collaborative Platforms: Students lack effective platforms for sharing resources and engaging in monitored group discussions.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Objective(s)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12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objective of this project is explained below: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Platform Development: Design and implement SkillUp, a web-based E-Learning platform to address limitations of traditional learning by providing a unified, interactive environment.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Resource Repository: Create a centralized repository for all course materials to ensure easy access for students and lecturers.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User-Friendly Interface: Design an intuitive and user-friendly interface to enhance the user experience for both students and lecturers.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Communication: Enhance interaction and communication between students and lecturers through integrated tools.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algn="just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Course Access and Management: Enable students to enroll in courses and access study materials, while allowing lecturers to create and manage courses efficiently.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Preliminary literature review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3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Enhanced Engagement and Usability E-Learning platforms like Moodle and iSpring create dynamic, accessible learning environments, with 78% of students reporting high usability, supporting SkillUp’s goal of a unified, user-friendly platform.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Resources and Cost-Effectiveness: These platforms provide centralized resource repositories, enabling cost-effective education delivery, aligning with SkillUp’s objective of seamless content access, though continuous updates are needed to stay technologically relevant.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Improved Interaction and Communication: Virtual platforms enhance teacher-student interaction, with 40.1% of students finding it easy to contact instructors and 42.3% rating virtual teaching positively, supporting SkillUp’s real-time discussion and feedback features.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Support for Digital Competency and Motivation: E-Learning fosters digital skills through blended learning and gamification, enhancing motivation and addressing practical disciplines, which SkillUp incorporates via its intuitive interface and interactive course creation.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25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259280"/>
            <a:ext cx="10567080" cy="470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8"/>
          <p:cNvSpPr/>
          <p:nvPr/>
        </p:nvSpPr>
        <p:spPr>
          <a:xfrm>
            <a:off x="100872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Landing Page of E-Learning Paltfrom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21" descr=""/>
          <p:cNvPicPr/>
          <p:nvPr/>
        </p:nvPicPr>
        <p:blipFill>
          <a:blip r:embed="rId1"/>
          <a:stretch/>
        </p:blipFill>
        <p:spPr>
          <a:xfrm>
            <a:off x="442440" y="1122120"/>
            <a:ext cx="11306160" cy="529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709280" y="-2286000"/>
            <a:ext cx="10177200" cy="5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   completed task -  Login Page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154" name="Picture 4" descr="A screenshot of a computer"/>
          <p:cNvPicPr/>
          <p:nvPr/>
        </p:nvPicPr>
        <p:blipFill>
          <a:blip r:embed="rId2"/>
          <a:stretch/>
        </p:blipFill>
        <p:spPr>
          <a:xfrm>
            <a:off x="527400" y="1122120"/>
            <a:ext cx="10896840" cy="536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7"/>
          <p:cNvSpPr/>
          <p:nvPr/>
        </p:nvSpPr>
        <p:spPr>
          <a:xfrm>
            <a:off x="100872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Login page of E-Learning Platfrom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23" descr=""/>
          <p:cNvPicPr/>
          <p:nvPr/>
        </p:nvPicPr>
        <p:blipFill>
          <a:blip r:embed="rId1"/>
          <a:stretch/>
        </p:blipFill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419760" y="1364040"/>
            <a:ext cx="10886400" cy="451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PlaceHolder 6"/>
          <p:cNvSpPr/>
          <p:nvPr/>
        </p:nvSpPr>
        <p:spPr>
          <a:xfrm>
            <a:off x="100836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Admin Portal (Frontend and Backend)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125" descr=""/>
          <p:cNvPicPr/>
          <p:nvPr/>
        </p:nvPicPr>
        <p:blipFill>
          <a:blip r:embed="rId1"/>
          <a:stretch/>
        </p:blipFill>
        <p:spPr>
          <a:xfrm>
            <a:off x="300240" y="1240920"/>
            <a:ext cx="11306160" cy="503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A screenshot of a computer"/>
          <p:cNvPicPr/>
          <p:nvPr/>
        </p:nvPicPr>
        <p:blipFill>
          <a:blip r:embed="rId2"/>
          <a:stretch/>
        </p:blipFill>
        <p:spPr>
          <a:xfrm>
            <a:off x="584640" y="1483920"/>
            <a:ext cx="1052208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5"/>
          <p:cNvSpPr/>
          <p:nvPr/>
        </p:nvSpPr>
        <p:spPr>
          <a:xfrm>
            <a:off x="1008000" y="22860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Teacher Portal (frontend)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88400" y="227880"/>
            <a:ext cx="1061388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Remaining task 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ubTitle"/>
          </p:nvPr>
        </p:nvSpPr>
        <p:spPr>
          <a:xfrm>
            <a:off x="815400" y="1370880"/>
            <a:ext cx="10613880" cy="311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- Backend Design of Student and teacher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 - Responsive Design                                 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4" name="PlaceHolder 4"/>
          <p:cNvSpPr/>
          <p:nvPr/>
        </p:nvSpPr>
        <p:spPr>
          <a:xfrm>
            <a:off x="99288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Remaining Tasks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Related Projects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 below are some related projects with my projects 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Moodle: An open-source learning management system offering course creation, resource sharing, and student-teacher interaction, widely used in educational institutions.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iSpring: A platform providing e-learning authoring tools and interactive courses, known for its user-friendly interface and integration with PowerPoint.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Canvas LMS: A cloud-based learning platform that supports online learning, assessments, and collaboration, adopted by many universities for its scalability.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Your Contribution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300240" y="1143000"/>
            <a:ext cx="11306160" cy="50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Localized Academic Focus: Unlike general platforms, E-Learning is designed specifically for Nepali academic institutions (e.g., TU campuses), integrating local curriculum like BCA courses with centralized repositories for region-specific resources, reducing dependency on global tools.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Centralized database for syllabus/resources.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Role-based access: Students submit online, lecturers manage easily.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Reduces physical dependencies; promotes anytime access.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Proposed Approach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Describe your model, project with diagrams and all. You can use multiple slides under this topic.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300240" y="2743200"/>
            <a:ext cx="5516280" cy="23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slide shows how users interact with E-Learning through a system flowchart.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172" name="Picture 137" descr=""/>
          <p:cNvPicPr/>
          <p:nvPr/>
        </p:nvPicPr>
        <p:blipFill>
          <a:blip r:embed="rId1"/>
          <a:stretch/>
        </p:blipFill>
        <p:spPr>
          <a:xfrm>
            <a:off x="6950160" y="914400"/>
            <a:ext cx="4656240" cy="52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Methodology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196560" y="909000"/>
            <a:ext cx="5973480" cy="54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We use the Waterfall Approach to develop SkillUp in a structured way.It follows sequential phases to ensure clear progress and quality.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Requirements and Planning : This phase of waterfall project management identifies what the project should do.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Design:The design phase solidifies and documents all your decisions.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Implementation:This phase executes your project plan and design to produce the desiredproduct.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Testing : The testing phase uses various quality metrics and customer satisfaction to measure the project’s success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Maintenance :It is also a phase to identify any errors you might have missed during the testing phase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175" name="Picture 140" descr=""/>
          <p:cNvPicPr/>
          <p:nvPr/>
        </p:nvPicPr>
        <p:blipFill>
          <a:blip r:embed="rId1"/>
          <a:stretch/>
        </p:blipFill>
        <p:spPr>
          <a:xfrm>
            <a:off x="6172200" y="1600200"/>
            <a:ext cx="5516280" cy="425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Outcome</a:t>
            </a:r>
            <a:br>
              <a:rPr sz="3200"/>
            </a:b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300240" y="1091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E-Learning will bridge traditional and digital education, enhancing learning efficiency.  outcomes include: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Centralized Learning Resource:Unified storage for materials, assignments, and quizzes.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Role-Based Data Security: Ensured data integrity by implementing distinct access levels for Admin, Teacher, and Student roles using secure authentication.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Efficient Course Management:Easy course creation and student progress tracking.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Time and Cost Efficiency : Anytime, anywhere learning; reduced physical resource needs and access materials outside of fixed college hours.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Future Recommendations</a:t>
            </a:r>
            <a:br>
              <a:rPr sz="3200"/>
            </a:b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228600" y="75816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To make the E-Learning Platform more efficient, user-friendly, and engaging, the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following improvements are suggested: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Introduce AI-Based Recommendations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Provide Certificates &amp; Badges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Add Multi-Language Support: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Add Notification system: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References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300240" y="457200"/>
            <a:ext cx="113061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[1] P. Ware and M. Warschauer, “Electronic feedback and second language writing,”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 Feedback in Second Language Writing: Contexts and Issues, K. Hyland 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F. Hyland, Eds. New York: Cambridge University Press, 2006, pp. 105–122.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[2] M. Warschauer, “Computer-mediated collaborative learning: Theory and practice,”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Modern Language Journal, vol. 81, pp. 470–481, 1997.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[3] G. F. Rivera-Mamani, C. E. Roque-Guizada, E. G. Estrada-Araoz, N. O. Roman-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Paredes, J. R. Palma-Chambilla, F. R. Flores-Flores, A. Romani-Claros, G. 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Lescano-Lopez, and C. J. Zavalaga-Paredes, “E-Learning as an Educational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Strategy in University: A Systematic Review,” Revista de Gestao Social 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Ambiental, vol. 18, no. 3, pp. 1–14, 2024. [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  <a:hlinkClick r:id="rId1"/>
              </a:rPr>
              <a:t>link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528840" y="1091160"/>
            <a:ext cx="7698960" cy="50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Requirement and Feasibility Study: 5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System Design: 5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Database Design: 5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Frontend Development: 15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Backend Development: 10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Integration of Modules: 5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Testing &amp; Debugging: 5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Documentation &amp; Report Writing: 10 days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-380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Noto Sans Symbols"/>
              <a:buChar char="▪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Final Submission &amp; Presentation: 10 days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marL="4572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92520" y="224280"/>
            <a:ext cx="10613880" cy="53352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Annex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185" name="Picture 148" descr=""/>
          <p:cNvPicPr/>
          <p:nvPr/>
        </p:nvPicPr>
        <p:blipFill>
          <a:blip r:embed="rId1"/>
          <a:stretch/>
        </p:blipFill>
        <p:spPr>
          <a:xfrm>
            <a:off x="457200" y="1143000"/>
            <a:ext cx="11427840" cy="502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39;p24"/>
          <p:cNvSpPr/>
          <p:nvPr/>
        </p:nvSpPr>
        <p:spPr>
          <a:xfrm>
            <a:off x="1716840" y="2546280"/>
            <a:ext cx="9164520" cy="121644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5000"/>
              </a:lnSpc>
              <a:tabLst>
                <a:tab algn="l" pos="0"/>
              </a:tabLst>
            </a:pPr>
            <a:r>
              <a:rPr b="1" lang="en-US" sz="6600" strike="noStrike" u="none">
                <a:solidFill>
                  <a:srgbClr val="404040"/>
                </a:solidFill>
                <a:effectLst/>
                <a:uFillTx/>
                <a:latin typeface="Calibri"/>
                <a:ea typeface="Calibri"/>
              </a:rPr>
              <a:t>Thank YOU!!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014480" y="224640"/>
            <a:ext cx="10613880" cy="545400"/>
          </a:xfrm>
          <a:prstGeom prst="rect">
            <a:avLst/>
          </a:prstGeom>
          <a:solidFill>
            <a:srgbClr val="eaf1dd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Queries/Comments/Feedback?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2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</TotalTime>
  <Application>LibreOffice/25.2.4.3$Linux_X86_64 LibreOffice_project/520$Build-3</Application>
  <AppVersion>15.0000</AppVersion>
  <Words>1208</Words>
  <Paragraphs>125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AASHISH</dc:creator>
  <dc:description/>
  <dc:language>en-US</dc:language>
  <cp:lastModifiedBy/>
  <dcterms:modified xsi:type="dcterms:W3CDTF">2026-02-20T14:25:32Z</dcterms:modified>
  <cp:revision>20</cp:revision>
  <dc:subject/>
  <dc:title>DETECTION OF BRAIN TUMOUR IN MRI IMAGE USING COMBINATION OF K-MEANS AND LSTM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