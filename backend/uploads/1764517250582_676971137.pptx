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1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9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7.jpeg" ContentType="image/jpeg"/>
  <Override PartName="/ppt/media/image11.png" ContentType="image/png"/>
  <Override PartName="/ppt/media/image8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2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61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10234613" cy="70993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fld id="{44ED4BE5-0874-4EDD-8453-990B31D62D5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2989440" y="887400"/>
            <a:ext cx="4254120" cy="239364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5680" cy="279324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4"/>
          </p:nvPr>
        </p:nvSpPr>
        <p:spPr>
          <a:xfrm>
            <a:off x="5797080" y="6743160"/>
            <a:ext cx="4432680" cy="35388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30216D-8E76-4FA7-B366-A9D980A83BE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2987640" y="887400"/>
            <a:ext cx="4257000" cy="239328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5680" cy="279324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5"/>
          </p:nvPr>
        </p:nvSpPr>
        <p:spPr>
          <a:xfrm>
            <a:off x="5797080" y="6743160"/>
            <a:ext cx="4432680" cy="35388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411E2B-9159-45FA-97C2-6A280778E4B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0" y="7635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480" cy="50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8DD020-F2E4-42A0-9BBC-59FAA12D27C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2987640" y="887400"/>
            <a:ext cx="4257000" cy="239328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5680" cy="279324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7"/>
          </p:nvPr>
        </p:nvSpPr>
        <p:spPr>
          <a:xfrm>
            <a:off x="5797080" y="6743160"/>
            <a:ext cx="4432680" cy="35388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09AE70-8375-46F5-B33A-1686127EBE8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BJE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Google Shape;22;p3"/>
          <p:cNvSpPr/>
          <p:nvPr/>
        </p:nvSpPr>
        <p:spPr>
          <a:xfrm>
            <a:off x="153360" y="6537960"/>
            <a:ext cx="453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020CD160-9446-44F2-9A39-ABF265BB76A3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4" name="Google Shape;23;p3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700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700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61" name="Google Shape;22;p3"/>
          <p:cNvSpPr/>
          <p:nvPr/>
        </p:nvSpPr>
        <p:spPr>
          <a:xfrm>
            <a:off x="153360" y="6537960"/>
            <a:ext cx="453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8FB7151A-2A58-4CD7-90D6-4C6973F0460D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2" name="Google Shape;23;p3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7000" cy="23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700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300240" y="3720960"/>
            <a:ext cx="5517000" cy="23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0" name="Google Shape;22;p3"/>
          <p:cNvSpPr/>
          <p:nvPr/>
        </p:nvSpPr>
        <p:spPr>
          <a:xfrm>
            <a:off x="153360" y="6537960"/>
            <a:ext cx="453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584B65E8-BDDA-4A83-BA64-EDA700A0FEC7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1" name="Google Shape;23;p3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7" name="Google Shape;22;p3"/>
          <p:cNvSpPr/>
          <p:nvPr/>
        </p:nvSpPr>
        <p:spPr>
          <a:xfrm>
            <a:off x="153360" y="6537960"/>
            <a:ext cx="453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FFAA12FB-88E6-4396-B858-60F42E6D5B96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8" name="Google Shape;23;p3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84" name="Google Shape;22;p3"/>
          <p:cNvSpPr/>
          <p:nvPr/>
        </p:nvSpPr>
        <p:spPr>
          <a:xfrm>
            <a:off x="153360" y="6537960"/>
            <a:ext cx="453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2FCACFF6-98FD-43CF-89BF-932654B44805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5" name="Google Shape;23;p3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1" name="Google Shape;22;p3"/>
          <p:cNvSpPr/>
          <p:nvPr/>
        </p:nvSpPr>
        <p:spPr>
          <a:xfrm>
            <a:off x="153360" y="6537960"/>
            <a:ext cx="453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BADD725B-DEA7-447C-A1A8-7F95C88BEE31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2" name="Google Shape;23;p3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1" name="Google Shape;22;p3"/>
          <p:cNvSpPr/>
          <p:nvPr/>
        </p:nvSpPr>
        <p:spPr>
          <a:xfrm>
            <a:off x="153360" y="6537960"/>
            <a:ext cx="453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81C1D06E-43DA-4CF3-9905-0752AA36B020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2" name="Google Shape;23;p3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1" name="Google Shape;22;p3"/>
          <p:cNvSpPr/>
          <p:nvPr/>
        </p:nvSpPr>
        <p:spPr>
          <a:xfrm>
            <a:off x="153360" y="6537960"/>
            <a:ext cx="453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C605A71C-B476-4549-A06F-C59293DBED1D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2" name="Google Shape;23;p3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BJECT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6" name="Google Shape;22;p3"/>
          <p:cNvSpPr/>
          <p:nvPr/>
        </p:nvSpPr>
        <p:spPr>
          <a:xfrm>
            <a:off x="153360" y="6537960"/>
            <a:ext cx="4539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594C4251-E7AD-4BF6-B656-0D702241B88C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7" name="Google Shape;23;p3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700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700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Google Shape;43;p8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" name="Google Shape;48;p9"/>
          <p:cNvSpPr/>
          <p:nvPr/>
        </p:nvSpPr>
        <p:spPr>
          <a:xfrm>
            <a:off x="762120" y="650772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Google Shape;53;p10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Google Shape;57;p11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960" cy="3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72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Google Shape;14;p1"/>
          <p:cNvSpPr/>
          <p:nvPr/>
        </p:nvSpPr>
        <p:spPr>
          <a:xfrm>
            <a:off x="0" y="6488640"/>
            <a:ext cx="1218996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5" name="Google Shape;61;p12"/>
          <p:cNvSpPr/>
          <p:nvPr/>
        </p:nvSpPr>
        <p:spPr>
          <a:xfrm>
            <a:off x="762120" y="6501240"/>
            <a:ext cx="1142784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92520" y="156600"/>
            <a:ext cx="1061460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://scielo.sld.cu/scielo.php?script=sci_arttext&amp;pid=S1996-24522020000100099&amp;lng=es&amp;nrm=iso&amp;tlng=es%0AJ.%20Morales,%20H.%20S&#225;nchez,%20and%20M.%20Rico,%20%22Apren" TargetMode="External"/><Relationship Id="rId2" Type="http://schemas.openxmlformats.org/officeDocument/2006/relationships/hyperlink" Target="https://doi.org/10.17013/risti.41.17-33" TargetMode="External"/><Relationship Id="rId3" Type="http://schemas.openxmlformats.org/officeDocument/2006/relationships/hyperlink" Target="https://doi.org/10.32870/ap.v12n1.1842" TargetMode="External"/><Relationship Id="rId4" Type="http://schemas.openxmlformats.org/officeDocument/2006/relationships/slideLayout" Target="../slideLayouts/slideLayout1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46400" y="2220840"/>
            <a:ext cx="11122920" cy="11926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LM Roman 12"/>
              </a:rPr>
              <a:t>Skillup - A E-Learning platform</a:t>
            </a:r>
            <a:br>
              <a:rPr sz="3600"/>
            </a:b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68;p13"/>
          <p:cNvSpPr/>
          <p:nvPr/>
        </p:nvSpPr>
        <p:spPr>
          <a:xfrm>
            <a:off x="957960" y="185400"/>
            <a:ext cx="1091088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Department of Computer Application</a:t>
            </a:r>
            <a:br>
              <a:rPr sz="2400"/>
            </a:b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Butwal Kalika Campus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Butwal-10,Rupandehi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9" name="Google Shape;69;p13"/>
          <p:cNvSpPr/>
          <p:nvPr/>
        </p:nvSpPr>
        <p:spPr>
          <a:xfrm>
            <a:off x="446400" y="3973680"/>
            <a:ext cx="11543760" cy="17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Students: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 Anupam Baral and Bibek Dangal     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                  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Coordinator: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Aashish Neupane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0" name="Google Shape;70;p13"/>
          <p:cNvSpPr/>
          <p:nvPr/>
        </p:nvSpPr>
        <p:spPr>
          <a:xfrm>
            <a:off x="4430520" y="5934600"/>
            <a:ext cx="3154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Date : 2082/07/18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1" name="Google Shape;71;p13"/>
          <p:cNvSpPr/>
          <p:nvPr/>
        </p:nvSpPr>
        <p:spPr>
          <a:xfrm>
            <a:off x="446400" y="1809000"/>
            <a:ext cx="5496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Project I Proposal Mid Defense 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992520" y="281520"/>
            <a:ext cx="10614600" cy="46620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Outline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89400" y="955440"/>
            <a:ext cx="10460880" cy="561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Introduction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Statement of Problem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Objectives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Literature review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Related Projects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Your Contribution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Proposal Approach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Methodology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Expected Outcome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References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Annex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Introduction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300240" y="914400"/>
            <a:ext cx="11306880" cy="548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E-Learning is education delivered via the Internet, networks, or standalone systems, using electronic media to facilitate skill and knowledge transfer.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It supports interaction between students and lecturers and distributes course materials online, leveraging technology for learning.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Rising demand for cost-effective education, government support for online learning, and widespread smartphone and Internet access fuel E-Learning growth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E-Learning is critical in the Information and Knowledge Age, enabling efficient acquisition, storage, and application of knowledge for organizational success.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E-Learning bridges learning and work by using the same tools and technologies, making it easier to incorporate education into professional environments.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SkillUp is an E-Learning platform offering flexible, device-based training in fields like Machine Learning and Programming, with real-time interaction for individual and group classes.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Statement of the Problem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203040" y="114300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Inefficient Assignment Submission: Students submit assignments via hard copies or personal emails, lacking a streamlined process.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Lack of Centralized Materials for Lecturers: New lecturers must independently source course materials, leading to inconsistency and inefficiency.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Mandatory Physical Presence:  Students must attend classes in person 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Absence of Collaborative Platforms: Students lack effective platforms for sharing resources and engaging in monitored group discussions.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Objective(s)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12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objective of this project is explained below: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Centralized Platform Development: Design and implement SkillUp, a web-based E-Learning platform to address limitations of traditional learning by providing a unified, interactive environment.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Resource Repository: Create a centralized repository for all course materials to ensure easy access for students and lecturers.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User-Friendly Interface: Design an intuitive and user-friendly interface to enhance the user experience for both students and lecturers.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Improved Communication: Enhance interaction and communication between students and lecturers through integrated tools.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Course Access and Management: Enable students to enroll in courses and access study materials, while allowing lecturers to create and manage courses efficiently.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Preliminary literature review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880" cy="530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Enhanced Engagement and Usability E-Learning platforms like Moodle and iSpring create dynamic, accessible learning environments, with 78% of students reporting high usability, supporting SkillUp’s goal of a unified, user-friendly platform.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Centralized Resources and Cost-Effectiveness: These platforms provide centralized resource repositories, enabling cost-effective education delivery, aligning with SkillUp’s objective of seamless content access, though continuous updates are needed to stay technologically relevant.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Improved Interaction and Communication: Virtual platforms enhance teacher-student interaction, with 40.1% of students finding it easy to contact instructors and 42.3% rating virtual teaching positively, supporting SkillUp’s real-time discussion and feedback features.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Support for Digital Competency and Motivation: E-Learning fosters digital skills through blended learning and gamification, enhancing motivation and addressing practical disciplines, which SkillUp incorporates via its intuitive interface and interactive course creation.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25" descr=""/>
          <p:cNvPicPr/>
          <p:nvPr/>
        </p:nvPicPr>
        <p:blipFill>
          <a:blip r:embed="rId1"/>
          <a:stretch/>
        </p:blipFill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584640" y="1259280"/>
            <a:ext cx="10567800" cy="470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PlaceHolder 8"/>
          <p:cNvSpPr txBox="1"/>
          <p:nvPr/>
        </p:nvSpPr>
        <p:spPr>
          <a:xfrm>
            <a:off x="1008720" y="22860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Landing Page of E-Learning Paltfrom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21" descr=""/>
          <p:cNvPicPr/>
          <p:nvPr/>
        </p:nvPicPr>
        <p:blipFill>
          <a:blip r:embed="rId1"/>
          <a:stretch/>
        </p:blipFill>
        <p:spPr>
          <a:xfrm>
            <a:off x="442440" y="1122120"/>
            <a:ext cx="11306880" cy="529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709280" y="-2286000"/>
            <a:ext cx="10177920" cy="58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   completed task -  Login Page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7" name="Picture 4" descr="A screenshot of a computer"/>
          <p:cNvPicPr/>
          <p:nvPr/>
        </p:nvPicPr>
        <p:blipFill>
          <a:blip r:embed="rId2"/>
          <a:stretch/>
        </p:blipFill>
        <p:spPr>
          <a:xfrm>
            <a:off x="527400" y="1122120"/>
            <a:ext cx="10897560" cy="53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7"/>
          <p:cNvSpPr txBox="1"/>
          <p:nvPr/>
        </p:nvSpPr>
        <p:spPr>
          <a:xfrm>
            <a:off x="1008720" y="22860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Login page of E-Learning Platfrom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123" descr=""/>
          <p:cNvPicPr/>
          <p:nvPr/>
        </p:nvPicPr>
        <p:blipFill>
          <a:blip r:embed="rId1"/>
          <a:stretch/>
        </p:blipFill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419760" y="1364040"/>
            <a:ext cx="10887120" cy="451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PlaceHolder 6"/>
          <p:cNvSpPr txBox="1"/>
          <p:nvPr/>
        </p:nvSpPr>
        <p:spPr>
          <a:xfrm>
            <a:off x="1008360" y="22860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Admin Portal (Frontend and Backend)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25" descr=""/>
          <p:cNvPicPr/>
          <p:nvPr/>
        </p:nvPicPr>
        <p:blipFill>
          <a:blip r:embed="rId1"/>
          <a:stretch/>
        </p:blipFill>
        <p:spPr>
          <a:xfrm>
            <a:off x="300240" y="1240920"/>
            <a:ext cx="11306880" cy="50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584640" y="1483920"/>
            <a:ext cx="10522800" cy="452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5"/>
          <p:cNvSpPr txBox="1"/>
          <p:nvPr/>
        </p:nvSpPr>
        <p:spPr>
          <a:xfrm>
            <a:off x="1008000" y="22860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Teacher Portal (frontend)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88400" y="228600"/>
            <a:ext cx="10614600" cy="68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Remaining task 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815400" y="1371600"/>
            <a:ext cx="10614600" cy="311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- Backend Design of Student and teacher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 - Responsive Design                                 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7" name="PlaceHolder 4"/>
          <p:cNvSpPr txBox="1"/>
          <p:nvPr/>
        </p:nvSpPr>
        <p:spPr>
          <a:xfrm>
            <a:off x="99288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Remaining Tasks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Related Projects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0" defTabSz="9144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 below are some related projects with my projects . 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Moodle: An open-source learning management system offering course creation, resource sharing, and student-teacher interaction, widely used in educational institutions.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iSpring: A platform providing e-learning authoring tools and interactive courses, known for its user-friendly interface and integration with PowerPoint.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Canvas LMS: A cloud-based learning platform that supports online learning, assessments, and collaboration, adopted by many universities for its scalability.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Your Contribution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300240" y="1143000"/>
            <a:ext cx="11306880" cy="502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Localized Academic Focus: Unlike general platforms, SkillUp is designed specifically for Nepali academic institutions (e.g., TU campuses), integrating local curriculum like BCA courses with centralized repositories for region-specific resources, reducing dependency on global tools.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Centralized database for syllabus/resources.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Role-based access: Students submit online, lecturers manage easily.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Reduces physical dependencies; promotes anytime access.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Proposed Approach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4" name="Picture 132" descr=""/>
          <p:cNvPicPr/>
          <p:nvPr/>
        </p:nvPicPr>
        <p:blipFill>
          <a:blip r:embed="rId1"/>
          <a:stretch/>
        </p:blipFill>
        <p:spPr>
          <a:xfrm>
            <a:off x="0" y="1600200"/>
            <a:ext cx="12190320" cy="46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Rectangle 133"/>
          <p:cNvSpPr/>
          <p:nvPr/>
        </p:nvSpPr>
        <p:spPr>
          <a:xfrm>
            <a:off x="685800" y="914400"/>
            <a:ext cx="594216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System block diagram of this project is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Proposed Approach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5517000" cy="23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Describe your model, project with diagrams and all. You can use multiple slides under this topic.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300240" y="2743200"/>
            <a:ext cx="5517000" cy="23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This slide shows how users interact with SkillUp through a system flowchart.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137" descr=""/>
          <p:cNvPicPr/>
          <p:nvPr/>
        </p:nvPicPr>
        <p:blipFill>
          <a:blip r:embed="rId1"/>
          <a:stretch/>
        </p:blipFill>
        <p:spPr>
          <a:xfrm>
            <a:off x="6950160" y="914400"/>
            <a:ext cx="4656960" cy="525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Methodology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196560" y="909000"/>
            <a:ext cx="5974200" cy="54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We use the Waterfall Approach to develop SkillUp in a structured way.It follows sequential phases to ensure clear progress and quality.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Requirements and Planning : This phase of waterfall project management identifies what the project should do.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Design:The design phase solidifies and documents all your decisions.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Implementation:This phase executes your project plan and design to produce the desiredproduct.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Testing : The testing phase uses various quality metrics and customer satisfaction to measure the project’s success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Maintenance :It is also a phase to identify any errors you might have missed during the testing phase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140" descr=""/>
          <p:cNvPicPr/>
          <p:nvPr/>
        </p:nvPicPr>
        <p:blipFill>
          <a:blip r:embed="rId1"/>
          <a:stretch/>
        </p:blipFill>
        <p:spPr>
          <a:xfrm>
            <a:off x="6172200" y="1600200"/>
            <a:ext cx="5517000" cy="425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200"/>
            </a:b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Expected Outcome</a:t>
            </a:r>
            <a:br>
              <a:rPr sz="3200"/>
            </a:b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SkillUp will bridge traditional and digital education, enhancing learning efficiency. Expected outcomes include: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Centralized Learning Resource:Unified storage for materials, assignments, and quizzes.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Improved Communication:Real-time interaction via forums and feedback.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Efficient Course Management:Easy course creation and student progress tracking.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Time and Cost Efficiency : Anytime, anywhere learning; reduced physical resource needs.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Enhanced Monitoring : Admin oversight of user activity and performance.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References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300240" y="1127160"/>
            <a:ext cx="11306880" cy="50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[1] A. Mayorga, K. Hernández, C. Aveiga, and S. Pacheco, "Construcción del conocimiento social mediante e-learning: límites y posibilidades en la enseñanza de Cultura Física," Podium: Revista de Ciencia y Tecnología en la Cultura Física, vol. 15, no. 1, pp. 99–110, 2020. 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  <a:hlinkClick r:id="rId1"/>
              </a:rPr>
              <a:t>[link]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[2]J. Morales, H. Sánchez, and M. Rico, "Aprendizaje divertido de programación con Gamificación," Revista Ibérica de Sistemas e Tecnologias de Informação, vol. 41, no. 3, pp. 17–33, 2021.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  <a:hlinkClick r:id="rId2"/>
              </a:rPr>
              <a:t>[link]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[3] D. Pástor, G. Arcos, and A. Lagunes, "Desarrollo de capacidades de investigación para estudiantes universitarios mediante el uso de estrategias instruccionales en entornos virtuales de aprendizaje," Apertura, vol. 12, no. 1, pp. 6–21, 2020. [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  <a:hlinkClick r:id="rId3"/>
              </a:rPr>
              <a:t>Link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]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Annex 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528840" y="1091160"/>
            <a:ext cx="7699680" cy="50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Requirement and Feasibility Study: 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System Design: 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Database Design: 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Frontend Development: 15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Backend Development: 10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Integration of Modules: 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Testing &amp; Debugging: 5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Documentation &amp; Report Writing: 10 days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Final Submission &amp; Presentation: 10 days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4600" cy="53424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Annex 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70" name="Picture 148" descr=""/>
          <p:cNvPicPr/>
          <p:nvPr/>
        </p:nvPicPr>
        <p:blipFill>
          <a:blip r:embed="rId1"/>
          <a:stretch/>
        </p:blipFill>
        <p:spPr>
          <a:xfrm>
            <a:off x="457200" y="1143000"/>
            <a:ext cx="11428560" cy="502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39;p24"/>
          <p:cNvSpPr/>
          <p:nvPr/>
        </p:nvSpPr>
        <p:spPr>
          <a:xfrm>
            <a:off x="1716840" y="2546280"/>
            <a:ext cx="9165240" cy="121716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5000"/>
              </a:lnSpc>
              <a:tabLst>
                <a:tab algn="l" pos="0"/>
              </a:tabLst>
            </a:pPr>
            <a:r>
              <a:rPr b="1" lang="en-US" sz="6600" strike="noStrike" u="non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Thank YOU!!</a:t>
            </a:r>
            <a:endParaRPr b="0" lang="en-US" sz="6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014480" y="224640"/>
            <a:ext cx="10614600" cy="5461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Queries/Comments/Feedback?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</TotalTime>
  <Application>LibreOffice/25.2.4.3$Linux_X86_64 LibreOffice_project/520$Build-3</Application>
  <AppVersion>15.0000</AppVersion>
  <Words>1208</Words>
  <Paragraphs>125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AASHISH</dc:creator>
  <dc:description/>
  <dc:language>en-US</dc:language>
  <cp:lastModifiedBy/>
  <dcterms:modified xsi:type="dcterms:W3CDTF">2025-11-03T20:50:43Z</dcterms:modified>
  <cp:revision>19</cp:revision>
  <dc:subject/>
  <dc:title>DETECTION OF BRAIN TUMOUR IN MRI IMAGE USING COMBINATION OF K-MEANS AND LSTM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