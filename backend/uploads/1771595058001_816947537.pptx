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10.png" ContentType="image/png"/>
  <Override PartName="/ppt/media/image2.png" ContentType="image/png"/>
  <Override PartName="/ppt/media/image3.png" ContentType="image/png"/>
  <Override PartName="/ppt/media/image9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7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21.xml.rels" ContentType="application/vnd.openxmlformats-package.relationships+xml"/>
  <Override PartName="/ppt/notesSlides/_rels/notesSlide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  <p:sldMasterId id="2147483671" r:id="rId13"/>
    <p:sldMasterId id="2147483673" r:id="rId14"/>
    <p:sldMasterId id="2147483674" r:id="rId15"/>
    <p:sldMasterId id="2147483675" r:id="rId16"/>
    <p:sldMasterId id="2147483676" r:id="rId17"/>
    <p:sldMasterId id="2147483677" r:id="rId18"/>
  </p:sldMasterIdLst>
  <p:notesMasterIdLst>
    <p:notesMasterId r:id="rId19"/>
  </p:notes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</p:sldIdLst>
  <p:sldSz cx="12192000" cy="6858000"/>
  <p:notesSz cx="10234613" cy="70993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19.xml"/><Relationship Id="rId39" Type="http://schemas.openxmlformats.org/officeDocument/2006/relationships/slide" Target="slides/slide20.xml"/><Relationship Id="rId40" Type="http://schemas.openxmlformats.org/officeDocument/2006/relationships/slide" Target="slides/slide21.xml"/><Relationship Id="rId4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DejaVu Sans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 algn="r">
              <a:buNone/>
            </a:pPr>
            <a:fld id="{6B351C5D-C1EA-410A-91A5-019B0C80E2A0}" type="slidenum"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2989440" y="887400"/>
            <a:ext cx="4253400" cy="2392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1023480" y="3416400"/>
            <a:ext cx="8184960" cy="279252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4"/>
          </p:nvPr>
        </p:nvSpPr>
        <p:spPr>
          <a:xfrm>
            <a:off x="5797080" y="6743160"/>
            <a:ext cx="4431960" cy="35316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DejaVu Serif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A36938-2BF7-41DA-8AC7-7A9A16E7E21C}" type="slidenum">
              <a:rPr b="0" lang="en-US" sz="1400" spc="-1" strike="noStrike">
                <a:solidFill>
                  <a:srgbClr val="000000"/>
                </a:solidFill>
                <a:latin typeface="DejaVu Serif"/>
                <a:ea typeface="+mn-ea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2987640" y="887400"/>
            <a:ext cx="4256280" cy="239256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1023480" y="3416400"/>
            <a:ext cx="8184960" cy="279252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5"/>
          </p:nvPr>
        </p:nvSpPr>
        <p:spPr>
          <a:xfrm>
            <a:off x="5797080" y="6743160"/>
            <a:ext cx="4431960" cy="35316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DejaVu Serif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3491CF-41C9-4820-918F-8AC06BE4287E}" type="slidenum">
              <a:rPr b="0" lang="en-US" sz="1400" spc="-1" strike="noStrike">
                <a:solidFill>
                  <a:srgbClr val="000000"/>
                </a:solidFill>
                <a:latin typeface="DejaVu Serif"/>
                <a:ea typeface="+mn-ea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0" y="7635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4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1760" cy="50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B1C387-E965-40D3-81A2-C3E3C9368C81}" type="slidenum"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2987640" y="887400"/>
            <a:ext cx="4256280" cy="239256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1023480" y="3416400"/>
            <a:ext cx="8184960" cy="279252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DejaVu Sans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DejaVu Sans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DejaVu Sans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7"/>
          </p:nvPr>
        </p:nvSpPr>
        <p:spPr>
          <a:xfrm>
            <a:off x="5797080" y="6743160"/>
            <a:ext cx="4431960" cy="35316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DejaVu Serif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AB1EDC-C60D-47E7-BA5C-4CD3D3C28E0C}" type="slidenum">
              <a:rPr b="0" lang="en-US" sz="1400" spc="-1" strike="noStrike">
                <a:solidFill>
                  <a:srgbClr val="000000"/>
                </a:solidFill>
                <a:latin typeface="DejaVu Serif"/>
                <a:ea typeface="+mn-ea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92520" y="165240"/>
            <a:ext cx="106138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92520" y="165240"/>
            <a:ext cx="106138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92520" y="165240"/>
            <a:ext cx="106138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92520" y="165240"/>
            <a:ext cx="106138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992520" y="165240"/>
            <a:ext cx="106138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992520" y="165240"/>
            <a:ext cx="106138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992520" y="165240"/>
            <a:ext cx="106138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992520" y="165240"/>
            <a:ext cx="106138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992520" y="165240"/>
            <a:ext cx="106138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992520" y="165240"/>
            <a:ext cx="106138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OBJEC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992520" y="165240"/>
            <a:ext cx="106138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55173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6093720" y="1091160"/>
            <a:ext cx="55173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992520" y="165240"/>
            <a:ext cx="106138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55173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093720" y="1091160"/>
            <a:ext cx="55173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92520" y="165240"/>
            <a:ext cx="106138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5517360" cy="24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6093720" y="1091160"/>
            <a:ext cx="55173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300240" y="3719520"/>
            <a:ext cx="5517360" cy="24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1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ln w="0">
            <a:noFill/>
          </a:ln>
        </p:spPr>
      </p:pic>
      <p:pic>
        <p:nvPicPr>
          <p:cNvPr id="1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ln w="0">
            <a:noFill/>
          </a:ln>
        </p:spPr>
      </p:pic>
      <p:sp>
        <p:nvSpPr>
          <p:cNvPr id="2" name="Google Shape;14;p1"/>
          <p:cNvSpPr/>
          <p:nvPr/>
        </p:nvSpPr>
        <p:spPr>
          <a:xfrm>
            <a:off x="0" y="6488640"/>
            <a:ext cx="1218924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                                                                                                                                            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" name="Google Shape;43;p8"/>
          <p:cNvSpPr/>
          <p:nvPr/>
        </p:nvSpPr>
        <p:spPr>
          <a:xfrm>
            <a:off x="762120" y="6501240"/>
            <a:ext cx="1142712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92520" y="35388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DejaVu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DejaVu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DejaVu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ln w="0">
            <a:noFill/>
          </a:ln>
        </p:spPr>
      </p:pic>
      <p:pic>
        <p:nvPicPr>
          <p:cNvPr id="9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ln w="0">
            <a:noFill/>
          </a:ln>
        </p:spPr>
      </p:pic>
      <p:sp>
        <p:nvSpPr>
          <p:cNvPr id="10" name="Google Shape;14;p1"/>
          <p:cNvSpPr/>
          <p:nvPr/>
        </p:nvSpPr>
        <p:spPr>
          <a:xfrm>
            <a:off x="0" y="6488640"/>
            <a:ext cx="1218924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                                                                                                                                            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" name="Google Shape;48;p9"/>
          <p:cNvSpPr/>
          <p:nvPr/>
        </p:nvSpPr>
        <p:spPr>
          <a:xfrm>
            <a:off x="762120" y="6507720"/>
            <a:ext cx="1142712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92520" y="35388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DejaVu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DejaVu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DejaVu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ln w="0">
            <a:noFill/>
          </a:ln>
        </p:spPr>
      </p:pic>
      <p:pic>
        <p:nvPicPr>
          <p:cNvPr id="17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ln w="0">
            <a:noFill/>
          </a:ln>
        </p:spPr>
      </p:pic>
      <p:sp>
        <p:nvSpPr>
          <p:cNvPr id="18" name="Google Shape;14;p1"/>
          <p:cNvSpPr/>
          <p:nvPr/>
        </p:nvSpPr>
        <p:spPr>
          <a:xfrm>
            <a:off x="0" y="6488640"/>
            <a:ext cx="1218924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                                                                                                                                            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" name="Google Shape;53;p10"/>
          <p:cNvSpPr/>
          <p:nvPr/>
        </p:nvSpPr>
        <p:spPr>
          <a:xfrm>
            <a:off x="762120" y="6501240"/>
            <a:ext cx="1142712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92520" y="35388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DejaVu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DejaVu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DejaVu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ln w="0">
            <a:noFill/>
          </a:ln>
        </p:spPr>
      </p:pic>
      <p:pic>
        <p:nvPicPr>
          <p:cNvPr id="25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ln w="0">
            <a:noFill/>
          </a:ln>
        </p:spPr>
      </p:pic>
      <p:sp>
        <p:nvSpPr>
          <p:cNvPr id="26" name="Google Shape;14;p1"/>
          <p:cNvSpPr/>
          <p:nvPr/>
        </p:nvSpPr>
        <p:spPr>
          <a:xfrm>
            <a:off x="0" y="6488640"/>
            <a:ext cx="1218924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                                                                                                                                            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ln w="0">
            <a:noFill/>
          </a:ln>
        </p:spPr>
      </p:pic>
      <p:pic>
        <p:nvPicPr>
          <p:cNvPr id="32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ln w="0">
            <a:noFill/>
          </a:ln>
        </p:spPr>
      </p:pic>
      <p:sp>
        <p:nvSpPr>
          <p:cNvPr id="33" name="Google Shape;14;p1"/>
          <p:cNvSpPr/>
          <p:nvPr/>
        </p:nvSpPr>
        <p:spPr>
          <a:xfrm>
            <a:off x="0" y="6488640"/>
            <a:ext cx="1218924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                                                                                                                                            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DejaVu Sans"/>
                <a:ea typeface="DejaVu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  <p:sldLayoutId id="2147483658" r:id="rId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ln w="0">
            <a:noFill/>
          </a:ln>
        </p:spPr>
      </p:pic>
      <p:pic>
        <p:nvPicPr>
          <p:cNvPr id="41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ln w="0">
            <a:noFill/>
          </a:ln>
        </p:spPr>
      </p:pic>
      <p:sp>
        <p:nvSpPr>
          <p:cNvPr id="42" name="Google Shape;14;p1"/>
          <p:cNvSpPr/>
          <p:nvPr/>
        </p:nvSpPr>
        <p:spPr>
          <a:xfrm>
            <a:off x="0" y="6488640"/>
            <a:ext cx="1218924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                                                                                                                                            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3" name="Google Shape;57;p11"/>
          <p:cNvSpPr/>
          <p:nvPr/>
        </p:nvSpPr>
        <p:spPr>
          <a:xfrm>
            <a:off x="762120" y="6501240"/>
            <a:ext cx="1142712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992520" y="35388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DejaVu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DejaVu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DejaVu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0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ln w="0">
            <a:noFill/>
          </a:ln>
        </p:spPr>
      </p:pic>
      <p:pic>
        <p:nvPicPr>
          <p:cNvPr id="49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ln w="0">
            <a:noFill/>
          </a:ln>
        </p:spPr>
      </p:pic>
      <p:sp>
        <p:nvSpPr>
          <p:cNvPr id="50" name="Google Shape;14;p1"/>
          <p:cNvSpPr/>
          <p:nvPr/>
        </p:nvSpPr>
        <p:spPr>
          <a:xfrm>
            <a:off x="0" y="6488640"/>
            <a:ext cx="1218924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                                                                                                                                            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1" name="Google Shape;61;p12"/>
          <p:cNvSpPr/>
          <p:nvPr/>
        </p:nvSpPr>
        <p:spPr>
          <a:xfrm>
            <a:off x="762120" y="6501240"/>
            <a:ext cx="1142712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992520" y="35388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DejaVu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DejaVu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DejaVu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ln w="0">
            <a:noFill/>
          </a:ln>
        </p:spPr>
      </p:pic>
      <p:pic>
        <p:nvPicPr>
          <p:cNvPr id="57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ln w="0">
            <a:noFill/>
          </a:ln>
        </p:spPr>
      </p:pic>
      <p:sp>
        <p:nvSpPr>
          <p:cNvPr id="58" name="Google Shape;14;p1"/>
          <p:cNvSpPr/>
          <p:nvPr/>
        </p:nvSpPr>
        <p:spPr>
          <a:xfrm>
            <a:off x="0" y="6488640"/>
            <a:ext cx="1218924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                                                                                                                                            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9" name="Google Shape;22;p3"/>
          <p:cNvSpPr/>
          <p:nvPr/>
        </p:nvSpPr>
        <p:spPr>
          <a:xfrm>
            <a:off x="153360" y="6537960"/>
            <a:ext cx="4532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BF3160CA-B4E2-4CA4-8115-483A5882ABA0}" type="slidenum">
              <a:rPr b="1" lang="en-US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0" name="Google Shape;23;p3"/>
          <p:cNvSpPr/>
          <p:nvPr/>
        </p:nvSpPr>
        <p:spPr>
          <a:xfrm>
            <a:off x="762120" y="6501240"/>
            <a:ext cx="1142712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4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ln w="0">
            <a:noFill/>
          </a:ln>
        </p:spPr>
      </p:pic>
      <p:pic>
        <p:nvPicPr>
          <p:cNvPr id="66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ln w="0">
            <a:noFill/>
          </a:ln>
        </p:spPr>
      </p:pic>
      <p:sp>
        <p:nvSpPr>
          <p:cNvPr id="67" name="Google Shape;14;p1"/>
          <p:cNvSpPr/>
          <p:nvPr/>
        </p:nvSpPr>
        <p:spPr>
          <a:xfrm>
            <a:off x="0" y="6488640"/>
            <a:ext cx="1218924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                                                                                                                                            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8" name="Google Shape;22;p3"/>
          <p:cNvSpPr/>
          <p:nvPr/>
        </p:nvSpPr>
        <p:spPr>
          <a:xfrm>
            <a:off x="153360" y="6537960"/>
            <a:ext cx="4532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E086A018-C814-477D-8EFA-934F55F1891B}" type="slidenum">
              <a:rPr b="1" lang="en-US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9" name="Google Shape;23;p3"/>
          <p:cNvSpPr/>
          <p:nvPr/>
        </p:nvSpPr>
        <p:spPr>
          <a:xfrm>
            <a:off x="762120" y="6501240"/>
            <a:ext cx="1142712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6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ln w="0">
            <a:noFill/>
          </a:ln>
        </p:spPr>
      </p:pic>
      <p:pic>
        <p:nvPicPr>
          <p:cNvPr id="75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ln w="0">
            <a:noFill/>
          </a:ln>
        </p:spPr>
      </p:pic>
      <p:sp>
        <p:nvSpPr>
          <p:cNvPr id="76" name="Google Shape;14;p1"/>
          <p:cNvSpPr/>
          <p:nvPr/>
        </p:nvSpPr>
        <p:spPr>
          <a:xfrm>
            <a:off x="0" y="6488640"/>
            <a:ext cx="1218924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                                                                                                                                            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7" name="Google Shape;22;p3"/>
          <p:cNvSpPr/>
          <p:nvPr/>
        </p:nvSpPr>
        <p:spPr>
          <a:xfrm>
            <a:off x="153360" y="6537960"/>
            <a:ext cx="4532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A993AEC7-6445-4974-9ACB-6D769FE2DA13}" type="slidenum">
              <a:rPr b="1" lang="en-US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8" name="Google Shape;23;p3"/>
          <p:cNvSpPr/>
          <p:nvPr/>
        </p:nvSpPr>
        <p:spPr>
          <a:xfrm>
            <a:off x="762120" y="6501240"/>
            <a:ext cx="1142712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551628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6095160" y="1091160"/>
            <a:ext cx="551628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8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ln w="0">
            <a:noFill/>
          </a:ln>
        </p:spPr>
      </p:pic>
      <p:pic>
        <p:nvPicPr>
          <p:cNvPr id="86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ln w="0">
            <a:noFill/>
          </a:ln>
        </p:spPr>
      </p:pic>
      <p:sp>
        <p:nvSpPr>
          <p:cNvPr id="87" name="Google Shape;14;p1"/>
          <p:cNvSpPr/>
          <p:nvPr/>
        </p:nvSpPr>
        <p:spPr>
          <a:xfrm>
            <a:off x="0" y="6488640"/>
            <a:ext cx="1218924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                                                                                                                                            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8" name="Google Shape;22;p3"/>
          <p:cNvSpPr/>
          <p:nvPr/>
        </p:nvSpPr>
        <p:spPr>
          <a:xfrm>
            <a:off x="153360" y="6537960"/>
            <a:ext cx="4532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530FC894-A0EE-48A0-A30A-9DAE32473FF9}" type="slidenum">
              <a:rPr b="1" lang="en-US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9" name="Google Shape;23;p3"/>
          <p:cNvSpPr/>
          <p:nvPr/>
        </p:nvSpPr>
        <p:spPr>
          <a:xfrm>
            <a:off x="762120" y="6501240"/>
            <a:ext cx="1142712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551628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6095160" y="1091160"/>
            <a:ext cx="551628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0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ln w="0">
            <a:noFill/>
          </a:ln>
        </p:spPr>
      </p:pic>
      <p:pic>
        <p:nvPicPr>
          <p:cNvPr id="97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ln w="0">
            <a:noFill/>
          </a:ln>
        </p:spPr>
      </p:pic>
      <p:sp>
        <p:nvSpPr>
          <p:cNvPr id="98" name="Google Shape;14;p1"/>
          <p:cNvSpPr/>
          <p:nvPr/>
        </p:nvSpPr>
        <p:spPr>
          <a:xfrm>
            <a:off x="0" y="6488640"/>
            <a:ext cx="1218924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                                                                                                                                            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9" name="Google Shape;22;p3"/>
          <p:cNvSpPr/>
          <p:nvPr/>
        </p:nvSpPr>
        <p:spPr>
          <a:xfrm>
            <a:off x="153360" y="6537960"/>
            <a:ext cx="4532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E097887A-7DD2-4F34-94A3-F338CF1DB4E4}" type="slidenum">
              <a:rPr b="1" lang="en-US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0" name="Google Shape;23;p3"/>
          <p:cNvSpPr/>
          <p:nvPr/>
        </p:nvSpPr>
        <p:spPr>
          <a:xfrm>
            <a:off x="762120" y="6501240"/>
            <a:ext cx="1142712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5516280" cy="239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333" lnSpcReduction="10000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6095160" y="1091160"/>
            <a:ext cx="551628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300240" y="3720960"/>
            <a:ext cx="5516280" cy="239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333" lnSpcReduction="10000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2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ln w="0">
            <a:noFill/>
          </a:ln>
        </p:spPr>
      </p:pic>
      <p:pic>
        <p:nvPicPr>
          <p:cNvPr id="110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ln w="0">
            <a:noFill/>
          </a:ln>
        </p:spPr>
      </p:pic>
      <p:sp>
        <p:nvSpPr>
          <p:cNvPr id="111" name="Google Shape;14;p1"/>
          <p:cNvSpPr/>
          <p:nvPr/>
        </p:nvSpPr>
        <p:spPr>
          <a:xfrm>
            <a:off x="0" y="6488640"/>
            <a:ext cx="1218924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                                                                                                                                            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2" name="Google Shape;22;p3"/>
          <p:cNvSpPr/>
          <p:nvPr/>
        </p:nvSpPr>
        <p:spPr>
          <a:xfrm>
            <a:off x="153360" y="6537960"/>
            <a:ext cx="4532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84423585-4D4C-40DA-8EAD-0081E6D7D7CC}" type="slidenum">
              <a:rPr b="1" lang="en-US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3" name="Google Shape;23;p3"/>
          <p:cNvSpPr/>
          <p:nvPr/>
        </p:nvSpPr>
        <p:spPr>
          <a:xfrm>
            <a:off x="762120" y="6501240"/>
            <a:ext cx="1142712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ln w="0">
            <a:noFill/>
          </a:ln>
        </p:spPr>
      </p:pic>
      <p:pic>
        <p:nvPicPr>
          <p:cNvPr id="117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ln w="0">
            <a:noFill/>
          </a:ln>
        </p:spPr>
      </p:pic>
      <p:sp>
        <p:nvSpPr>
          <p:cNvPr id="118" name="Google Shape;14;p1"/>
          <p:cNvSpPr/>
          <p:nvPr/>
        </p:nvSpPr>
        <p:spPr>
          <a:xfrm>
            <a:off x="0" y="6488640"/>
            <a:ext cx="1218924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                                                                                                                                            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9" name="Google Shape;22;p3"/>
          <p:cNvSpPr/>
          <p:nvPr/>
        </p:nvSpPr>
        <p:spPr>
          <a:xfrm>
            <a:off x="153360" y="6537960"/>
            <a:ext cx="4532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0FD2A721-352D-4827-B45F-06B0CD232A06}" type="slidenum">
              <a:rPr b="1" lang="en-US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0" name="Google Shape;23;p3"/>
          <p:cNvSpPr/>
          <p:nvPr/>
        </p:nvSpPr>
        <p:spPr>
          <a:xfrm>
            <a:off x="762120" y="6501240"/>
            <a:ext cx="1142712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ln w="0">
            <a:noFill/>
          </a:ln>
        </p:spPr>
      </p:pic>
      <p:pic>
        <p:nvPicPr>
          <p:cNvPr id="124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ln w="0">
            <a:noFill/>
          </a:ln>
        </p:spPr>
      </p:pic>
      <p:sp>
        <p:nvSpPr>
          <p:cNvPr id="125" name="Google Shape;14;p1"/>
          <p:cNvSpPr/>
          <p:nvPr/>
        </p:nvSpPr>
        <p:spPr>
          <a:xfrm>
            <a:off x="0" y="6488640"/>
            <a:ext cx="1218924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                                                                                                                                            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6" name="Google Shape;22;p3"/>
          <p:cNvSpPr/>
          <p:nvPr/>
        </p:nvSpPr>
        <p:spPr>
          <a:xfrm>
            <a:off x="153360" y="6537960"/>
            <a:ext cx="4532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3EBBD8B2-030B-4044-8297-7A15335017A2}" type="slidenum">
              <a:rPr b="1" lang="en-US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7" name="Google Shape;23;p3"/>
          <p:cNvSpPr/>
          <p:nvPr/>
        </p:nvSpPr>
        <p:spPr>
          <a:xfrm>
            <a:off x="762120" y="6501240"/>
            <a:ext cx="1142712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ln w="0">
            <a:noFill/>
          </a:ln>
        </p:spPr>
      </p:pic>
      <p:pic>
        <p:nvPicPr>
          <p:cNvPr id="131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ln w="0">
            <a:noFill/>
          </a:ln>
        </p:spPr>
      </p:pic>
      <p:sp>
        <p:nvSpPr>
          <p:cNvPr id="132" name="Google Shape;14;p1"/>
          <p:cNvSpPr/>
          <p:nvPr/>
        </p:nvSpPr>
        <p:spPr>
          <a:xfrm>
            <a:off x="0" y="6488640"/>
            <a:ext cx="1218924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                                                                                                                                            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3" name="Google Shape;22;p3"/>
          <p:cNvSpPr/>
          <p:nvPr/>
        </p:nvSpPr>
        <p:spPr>
          <a:xfrm>
            <a:off x="153360" y="6537960"/>
            <a:ext cx="4532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6F4EC186-827C-4CA2-80C1-107006EB0366}" type="slidenum">
              <a:rPr b="1" lang="en-US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4" name="Google Shape;23;p3"/>
          <p:cNvSpPr/>
          <p:nvPr/>
        </p:nvSpPr>
        <p:spPr>
          <a:xfrm>
            <a:off x="762120" y="6501240"/>
            <a:ext cx="1142712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ln w="0">
            <a:noFill/>
          </a:ln>
        </p:spPr>
      </p:pic>
      <p:pic>
        <p:nvPicPr>
          <p:cNvPr id="138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ln w="0">
            <a:noFill/>
          </a:ln>
        </p:spPr>
      </p:pic>
      <p:sp>
        <p:nvSpPr>
          <p:cNvPr id="139" name="Google Shape;14;p1"/>
          <p:cNvSpPr/>
          <p:nvPr/>
        </p:nvSpPr>
        <p:spPr>
          <a:xfrm>
            <a:off x="0" y="6488640"/>
            <a:ext cx="1218924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                                                                                                                                            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0" name="Google Shape;22;p3"/>
          <p:cNvSpPr/>
          <p:nvPr/>
        </p:nvSpPr>
        <p:spPr>
          <a:xfrm>
            <a:off x="153360" y="6537960"/>
            <a:ext cx="4532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B37F9F21-F58C-4EF2-AAB0-8C1621A8663B}" type="slidenum">
              <a:rPr b="1" lang="en-US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1" name="Google Shape;23;p3"/>
          <p:cNvSpPr/>
          <p:nvPr/>
        </p:nvSpPr>
        <p:spPr>
          <a:xfrm>
            <a:off x="762120" y="6501240"/>
            <a:ext cx="11427120" cy="3646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BCA Program, Butwal Kalika Campus , TU Nepal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8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hyperlink" Target="https://pdfs.semanticscholar.org/e490/391aa7fb697d43afdd061054d39e" TargetMode="External"/><Relationship Id="rId2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446400" y="2220840"/>
            <a:ext cx="11122200" cy="119196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rmAutofit fontScale="66111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1" lang="en-US" sz="3600" spc="-1" strike="noStrike">
                <a:solidFill>
                  <a:schemeClr val="dk1"/>
                </a:solidFill>
                <a:latin typeface="Times New Roman"/>
                <a:ea typeface="LM Roman 12"/>
              </a:rPr>
              <a:t> </a:t>
            </a:r>
            <a:r>
              <a:rPr b="1" lang="en-US" sz="3600" spc="-1" strike="noStrike">
                <a:solidFill>
                  <a:schemeClr val="dk1"/>
                </a:solidFill>
                <a:latin typeface="Times New Roman"/>
                <a:ea typeface="LM Roman 12"/>
              </a:rPr>
              <a:t>E-Learning - A E-Learning platform</a:t>
            </a:r>
            <a:br>
              <a:rPr sz="3600"/>
            </a:br>
            <a:endParaRPr b="0" lang="en-US" sz="36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1" name="Google Shape;68;p13"/>
          <p:cNvSpPr/>
          <p:nvPr/>
        </p:nvSpPr>
        <p:spPr>
          <a:xfrm>
            <a:off x="957960" y="185400"/>
            <a:ext cx="10910160" cy="13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Department of Computer Application</a:t>
            </a:r>
            <a:br>
              <a:rPr sz="2400"/>
            </a:b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Butwal Kalika Campus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Butwal-10,Rupandehi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2" name="Google Shape;69;p13"/>
          <p:cNvSpPr/>
          <p:nvPr/>
        </p:nvSpPr>
        <p:spPr>
          <a:xfrm>
            <a:off x="446400" y="3973680"/>
            <a:ext cx="11543040" cy="17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2400" spc="-1" strike="noStrike" u="sng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Students:</a:t>
            </a:r>
            <a:r>
              <a:rPr b="1" lang="en-US" sz="2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 Anupam Baral and Bibek Dangal       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                    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 u="sng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Coordinator:</a:t>
            </a:r>
            <a:r>
              <a:rPr b="1" lang="en-US" sz="2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Aashish Neupane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3" name="Google Shape;70;p13"/>
          <p:cNvSpPr/>
          <p:nvPr/>
        </p:nvSpPr>
        <p:spPr>
          <a:xfrm>
            <a:off x="4430520" y="5934600"/>
            <a:ext cx="31539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Date : 2082/11/09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4" name="Google Shape;71;p13"/>
          <p:cNvSpPr/>
          <p:nvPr/>
        </p:nvSpPr>
        <p:spPr>
          <a:xfrm>
            <a:off x="446400" y="1809000"/>
            <a:ext cx="54961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Project I Proposal Mid Defense on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992520" y="281520"/>
            <a:ext cx="10613880" cy="46548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Outline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689400" y="955440"/>
            <a:ext cx="10460160" cy="561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111"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Noto Sans Symbols"/>
              <a:buChar char="▪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Introduction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Statement of Problem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Objectives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Literature review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Related Projects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Your Contribution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Proposal Approach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Methodology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Expected Outcome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References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Annex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indent="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marL="343080" indent="-19044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marL="343080" indent="-19044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marL="343080" indent="-19044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marL="343080" indent="-19044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Introduction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300240" y="914400"/>
            <a:ext cx="11306160" cy="54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E-Learning is education delivered via the Internet, networks, or standalone systems, using electronic media to facilitate skill and knowledge transfer.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It supports interaction between students and lecturers and distributes course materials online, leveraging technology for learning.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Rising demand for cost-effective education, government support for online learning, and widespread smartphone and Internet access fuel E-Learning growth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E-Learning is critical in the Information and Knowledge Age, enabling efficient acquisition, storage, and application of knowledge for organizational success.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E-Learning bridges learning and work by using the same tools and technologies, making it easier to incorporate education into professional environments.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SkillUp is an E-Learning platform offering flexible, device-based training in fields like Machine Learning and Programming, with real-time interaction for individual and group classes.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Statement of the Problem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203040" y="114300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Inefficient Assignment Submission: Students submit assignments via hard copies or personal emails, lacking a streamlined process.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Lack of Centralized Materials for Lecturers: New lecturers must independently source course materials, leading to inconsistency and inefficiency.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Mandatory Physical Presence:  Students must attend classes in person . 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Absence of Collaborative Platforms: Students lack effective platforms for sharing resources and engaging in monitored group discussions.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Objective(s)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12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The objective of this project is explained below: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Centralized Platform Development: Design and implement SkillUp, a web-based E-Learning platform to address limitations of traditional learning by providing a unified, interactive environment.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Resource Repository: Create a centralized repository for all course materials to ensure easy access for students and lecturers.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User-Friendly Interface: Design an intuitive and user-friendly interface to enhance the user experience for both students and lecturers.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Improved Communication: Enhance interaction and communication between students and lecturers through integrated tools.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Course Access and Management: Enable students to enroll in courses and access study materials, while allowing lecturers to create and manage courses efficiently.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Preliminary literature review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160" cy="530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Enhanced Engagement and Usability E-Learning platforms like Moodle and iSpring create dynamic, accessible learning environments, with 78% of students reporting high usability, supporting SkillUp’s goal of a unified, user-friendly platform.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Centralized Resources and Cost-Effectiveness: These platforms provide centralized resource repositories, enabling cost-effective education delivery, aligning with SkillUp’s objective of seamless content access, though continuous updates are needed to stay technologically relevant.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Improved Interaction and Communication: Virtual platforms enhance teacher-student interaction, with 40.1% of students finding it easy to contact instructors and 42.3% rating virtual teaching positively, supporting SkillUp’s real-time discussion and feedback features.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Support for Digital Competency and Motivation: E-Learning fosters digital skills through blended learning and gamification, enhancing motivation and addressing practical disciplines, which SkillUp incorporates via its intuitive interface and interactive course creation.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Picture 125" descr=""/>
          <p:cNvPicPr/>
          <p:nvPr/>
        </p:nvPicPr>
        <p:blipFill>
          <a:blip r:embed="rId1"/>
          <a:stretch/>
        </p:blipFill>
        <p:spPr>
          <a:xfrm>
            <a:off x="300240" y="1091160"/>
            <a:ext cx="11306160" cy="5032440"/>
          </a:xfrm>
          <a:prstGeom prst="rect">
            <a:avLst/>
          </a:prstGeom>
          <a:ln w="0">
            <a:noFill/>
          </a:ln>
        </p:spPr>
      </p:pic>
      <p:pic>
        <p:nvPicPr>
          <p:cNvPr id="166" name="Picture 2" descr="A screenshot of a computer"/>
          <p:cNvPicPr/>
          <p:nvPr/>
        </p:nvPicPr>
        <p:blipFill>
          <a:blip r:embed="rId2"/>
          <a:stretch/>
        </p:blipFill>
        <p:spPr>
          <a:xfrm>
            <a:off x="584640" y="1259280"/>
            <a:ext cx="10567080" cy="4705920"/>
          </a:xfrm>
          <a:prstGeom prst="rect">
            <a:avLst/>
          </a:prstGeom>
          <a:ln w="0">
            <a:noFill/>
          </a:ln>
        </p:spPr>
      </p:pic>
      <p:sp>
        <p:nvSpPr>
          <p:cNvPr id="167" name="PlaceHolder 8"/>
          <p:cNvSpPr/>
          <p:nvPr/>
        </p:nvSpPr>
        <p:spPr>
          <a:xfrm>
            <a:off x="1008720" y="22860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Landing Page of E-Learning Paltfrom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121" descr=""/>
          <p:cNvPicPr/>
          <p:nvPr/>
        </p:nvPicPr>
        <p:blipFill>
          <a:blip r:embed="rId1"/>
          <a:stretch/>
        </p:blipFill>
        <p:spPr>
          <a:xfrm>
            <a:off x="442440" y="1122120"/>
            <a:ext cx="11306160" cy="5292720"/>
          </a:xfrm>
          <a:prstGeom prst="rect">
            <a:avLst/>
          </a:prstGeom>
          <a:ln w="0">
            <a:noFill/>
          </a:ln>
        </p:spPr>
      </p:pic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709280" y="-2286000"/>
            <a:ext cx="10177200" cy="58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   </a:t>
            </a:r>
            <a:r>
              <a:rPr b="0" lang="en-US" sz="3000" spc="-1" strike="noStrike">
                <a:solidFill>
                  <a:schemeClr val="dk1"/>
                </a:solidFill>
                <a:latin typeface="Times New Roman"/>
                <a:ea typeface="DejaVu Sans"/>
              </a:rPr>
              <a:t>completed task -  Login Page</a:t>
            </a:r>
            <a:endParaRPr b="0" lang="en-US" sz="3000" spc="-1" strike="noStrike">
              <a:solidFill>
                <a:srgbClr val="000000"/>
              </a:solidFill>
              <a:latin typeface="DejaVu Sans"/>
            </a:endParaRPr>
          </a:p>
        </p:txBody>
      </p:sp>
      <p:pic>
        <p:nvPicPr>
          <p:cNvPr id="170" name="Picture 4" descr="A screenshot of a computer"/>
          <p:cNvPicPr/>
          <p:nvPr/>
        </p:nvPicPr>
        <p:blipFill>
          <a:blip r:embed="rId2"/>
          <a:stretch/>
        </p:blipFill>
        <p:spPr>
          <a:xfrm>
            <a:off x="527400" y="1122120"/>
            <a:ext cx="10896840" cy="5367600"/>
          </a:xfrm>
          <a:prstGeom prst="rect">
            <a:avLst/>
          </a:prstGeom>
          <a:ln w="0">
            <a:noFill/>
          </a:ln>
        </p:spPr>
      </p:pic>
      <p:sp>
        <p:nvSpPr>
          <p:cNvPr id="171" name="PlaceHolder 7"/>
          <p:cNvSpPr/>
          <p:nvPr/>
        </p:nvSpPr>
        <p:spPr>
          <a:xfrm>
            <a:off x="1008720" y="22860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Login page of E-Learning Platfrom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icture 123" descr=""/>
          <p:cNvPicPr/>
          <p:nvPr/>
        </p:nvPicPr>
        <p:blipFill>
          <a:blip r:embed="rId1"/>
          <a:stretch/>
        </p:blipFill>
        <p:spPr>
          <a:xfrm>
            <a:off x="300240" y="1091160"/>
            <a:ext cx="11306160" cy="5032440"/>
          </a:xfrm>
          <a:prstGeom prst="rect">
            <a:avLst/>
          </a:prstGeom>
          <a:ln w="0">
            <a:noFill/>
          </a:ln>
        </p:spPr>
      </p:pic>
      <p:pic>
        <p:nvPicPr>
          <p:cNvPr id="173" name="Picture 2" descr="A screenshot of a computer"/>
          <p:cNvPicPr/>
          <p:nvPr/>
        </p:nvPicPr>
        <p:blipFill>
          <a:blip r:embed="rId2"/>
          <a:stretch/>
        </p:blipFill>
        <p:spPr>
          <a:xfrm>
            <a:off x="419760" y="1364040"/>
            <a:ext cx="10886400" cy="4510800"/>
          </a:xfrm>
          <a:prstGeom prst="rect">
            <a:avLst/>
          </a:prstGeom>
          <a:ln w="0">
            <a:noFill/>
          </a:ln>
        </p:spPr>
      </p:pic>
      <p:sp>
        <p:nvSpPr>
          <p:cNvPr id="174" name="PlaceHolder 6"/>
          <p:cNvSpPr/>
          <p:nvPr/>
        </p:nvSpPr>
        <p:spPr>
          <a:xfrm>
            <a:off x="1008360" y="22860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Admin Portal (Frontend and Backend)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Picture 125" descr=""/>
          <p:cNvPicPr/>
          <p:nvPr/>
        </p:nvPicPr>
        <p:blipFill>
          <a:blip r:embed="rId1"/>
          <a:stretch/>
        </p:blipFill>
        <p:spPr>
          <a:xfrm>
            <a:off x="300240" y="1240920"/>
            <a:ext cx="11306160" cy="5032440"/>
          </a:xfrm>
          <a:prstGeom prst="rect">
            <a:avLst/>
          </a:prstGeom>
          <a:ln w="0">
            <a:noFill/>
          </a:ln>
        </p:spPr>
      </p:pic>
      <p:pic>
        <p:nvPicPr>
          <p:cNvPr id="176" name="Picture 2" descr="A screenshot of a computer"/>
          <p:cNvPicPr/>
          <p:nvPr/>
        </p:nvPicPr>
        <p:blipFill>
          <a:blip r:embed="rId2"/>
          <a:stretch/>
        </p:blipFill>
        <p:spPr>
          <a:xfrm>
            <a:off x="584640" y="1483920"/>
            <a:ext cx="10522080" cy="4525920"/>
          </a:xfrm>
          <a:prstGeom prst="rect">
            <a:avLst/>
          </a:prstGeom>
          <a:ln w="0">
            <a:noFill/>
          </a:ln>
        </p:spPr>
      </p:pic>
      <p:sp>
        <p:nvSpPr>
          <p:cNvPr id="177" name="PlaceHolder 5"/>
          <p:cNvSpPr/>
          <p:nvPr/>
        </p:nvSpPr>
        <p:spPr>
          <a:xfrm>
            <a:off x="1008000" y="22860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Teacher Portal (frontend)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88400" y="227880"/>
            <a:ext cx="1061388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Remaining task </a:t>
            </a:r>
            <a:endParaRPr b="0" lang="en-US" sz="3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ubTitle"/>
          </p:nvPr>
        </p:nvSpPr>
        <p:spPr>
          <a:xfrm>
            <a:off x="815400" y="1370880"/>
            <a:ext cx="10613880" cy="311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- Backend Design of Student and teacher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- Responsive Design                                  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0" name="PlaceHolder 4"/>
          <p:cNvSpPr/>
          <p:nvPr/>
        </p:nvSpPr>
        <p:spPr>
          <a:xfrm>
            <a:off x="99288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Remaining Tasks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Related Projects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0" defTabSz="9144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The below are some related projects with my projects . 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Moodle: An open-source learning management system offering course creation, resource sharing, and student-teacher interaction, widely used in educational institutions.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iSpring: A platform providing e-learning authoring tools and interactive courses, known for its user-friendly interface and integration with PowerPoint.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Canvas LMS: A cloud-based learning platform that supports online learning, assessments, and collaboration, adopted by many universities for its scalability.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Your Contribution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300240" y="1143000"/>
            <a:ext cx="11306160" cy="50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Localized Academic Focus: Unlike general platforms, E-Learning is designed specifically for Nepali academic institutions (e.g., TU campuses), integrating local curriculum like BCA courses with centralized repositories for region-specific resources, reducing dependency on global tools.</a:t>
            </a:r>
            <a:endParaRPr b="0" lang="en-US" sz="22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Centralized database for syllabus/resources.</a:t>
            </a:r>
            <a:endParaRPr b="0" lang="en-US" sz="22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Role-based access: Students submit online, lecturers manage easily.</a:t>
            </a:r>
            <a:endParaRPr b="0" lang="en-US" sz="22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Reduces physical dependencies; promotes anytime access.</a:t>
            </a:r>
            <a:endParaRPr b="0" lang="en-US" sz="22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Proposed Approach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5516280" cy="23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Describe your model, project with diagrams and all. You can use multiple slides under this topic.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/>
          </p:nvPr>
        </p:nvSpPr>
        <p:spPr>
          <a:xfrm>
            <a:off x="300240" y="2743200"/>
            <a:ext cx="5516280" cy="239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This slide shows how users interact with E-Learning through a system flowchart.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  <p:pic>
        <p:nvPicPr>
          <p:cNvPr id="188" name="Picture 137" descr=""/>
          <p:cNvPicPr/>
          <p:nvPr/>
        </p:nvPicPr>
        <p:blipFill>
          <a:blip r:embed="rId1"/>
          <a:stretch/>
        </p:blipFill>
        <p:spPr>
          <a:xfrm>
            <a:off x="6950160" y="914400"/>
            <a:ext cx="4656240" cy="525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Methodology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196560" y="909000"/>
            <a:ext cx="5973480" cy="54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We use the Waterfall Approach to develop SkillUp in a structured way.It follows sequential phases to ensure clear progress and quality.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Requirements and Planning : This phase of waterfall project management identifies what the project should do. 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Design:The design phase solidifies and documents all your decisions.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Implementation:This phase executes your project plan and design to produce the desiredproduct. 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Testing : The testing phase uses various quality metrics and customer satisfaction to measure the project’s success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Maintenance :It is also a phase to identify any errors you might have missed during the testing phase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pic>
        <p:nvPicPr>
          <p:cNvPr id="191" name="Picture 140" descr=""/>
          <p:cNvPicPr/>
          <p:nvPr/>
        </p:nvPicPr>
        <p:blipFill>
          <a:blip r:embed="rId1"/>
          <a:stretch/>
        </p:blipFill>
        <p:spPr>
          <a:xfrm>
            <a:off x="6172200" y="1600200"/>
            <a:ext cx="5516280" cy="4254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br>
              <a:rPr sz="3200"/>
            </a:b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</a:t>
            </a: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Outcome</a:t>
            </a:r>
            <a:br>
              <a:rPr sz="3200"/>
            </a:b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E-Learning will bridge traditional and digital education, enhancing learning efficiency.  outcomes include: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Centralized Learning Resource:Unified storage for materials, assignments, and quizzes.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Role-Based Data Security: Ensured data integrity by implementing distinct access levels for Admin, Teacher, and Student roles using secure authentication.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Efficient Course Management:Easy course creation and student progress tracking.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Time and Cost Efficiency : Anytime, anywhere learning; reduced physical resource needs and access materials outside of fixed college hours.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br>
              <a:rPr sz="3200"/>
            </a:br>
            <a:r>
              <a:rPr b="1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Future Recommendations</a:t>
            </a:r>
            <a:br>
              <a:rPr sz="3200"/>
            </a:b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228600" y="758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To make the E-Learning Platform more efficient, user-friendly, and engaging, the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following improvements are suggested: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Introduce AI-Based Recommendations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Provide Certificates &amp; Badges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Add Multi-Language Support: 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Add Notification system: 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References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300240" y="45720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[1] P. Ware and M. Warschauer, “Electronic feedback and second language writing,”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in Feedback in Second Language Writing: Contexts and Issues, K. Hyland and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F. Hyland, Eds. New York: Cambridge University Press, 2006, pp. 105–122.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[2] M. Warschauer, “Computer-mediated collaborative learning: Theory and practice,”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Modern Language Journal, vol. 81, pp. 470–481, 1997.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[3] G. F. Rivera-Mamani, C. E. Roque-Guizada, E. G. Estrada-Araoz, N. O. Roman-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Paredes, J. R. Palma-Chambilla, F. R. Flores-Flores, A. Romani-Claros, G. S.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Lescano-Lopez, and C. J. Zavalaga-Paredes, “E-Learning as an Educational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Strategy in University: A Systematic Review,” Revista de Gestao Social e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Ambiental, vol. 18, no. 3, pp. 1–14, 2024. [</a:t>
            </a: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Times New Roman"/>
                <a:hlinkClick r:id="rId1"/>
              </a:rPr>
              <a:t>link</a:t>
            </a: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]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Annex 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528840" y="1091160"/>
            <a:ext cx="7698960" cy="50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Requirement and Feasibility Study: 5 days </a:t>
            </a:r>
            <a:endParaRPr b="0" lang="en-US" sz="16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System Design: 5 days </a:t>
            </a:r>
            <a:endParaRPr b="0" lang="en-US" sz="16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Database Design: 5 days </a:t>
            </a:r>
            <a:endParaRPr b="0" lang="en-US" sz="16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Frontend Development: 15 days </a:t>
            </a:r>
            <a:endParaRPr b="0" lang="en-US" sz="16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Backend Development: 10 days </a:t>
            </a:r>
            <a:endParaRPr b="0" lang="en-US" sz="16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Integration of Modules: 5 days </a:t>
            </a:r>
            <a:endParaRPr b="0" lang="en-US" sz="16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Testing &amp; Debugging: 5 days </a:t>
            </a:r>
            <a:endParaRPr b="0" lang="en-US" sz="16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Documentation &amp; Report Writing: 10 days</a:t>
            </a:r>
            <a:endParaRPr b="0" lang="en-US" sz="16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Final Submission &amp; Presentation: 10 days </a:t>
            </a:r>
            <a:endParaRPr b="0" lang="en-US" sz="1600" spc="-1" strike="noStrike">
              <a:solidFill>
                <a:srgbClr val="000000"/>
              </a:solidFill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Annex 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pic>
        <p:nvPicPr>
          <p:cNvPr id="201" name="Picture 148" descr=""/>
          <p:cNvPicPr/>
          <p:nvPr/>
        </p:nvPicPr>
        <p:blipFill>
          <a:blip r:embed="rId1"/>
          <a:stretch/>
        </p:blipFill>
        <p:spPr>
          <a:xfrm>
            <a:off x="457200" y="1143000"/>
            <a:ext cx="11427840" cy="5027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139;p24"/>
          <p:cNvSpPr/>
          <p:nvPr/>
        </p:nvSpPr>
        <p:spPr>
          <a:xfrm>
            <a:off x="1716840" y="2546280"/>
            <a:ext cx="9164520" cy="1216440"/>
          </a:xfrm>
          <a:prstGeom prst="rect">
            <a:avLst/>
          </a:prstGeom>
          <a:solidFill>
            <a:srgbClr val="92d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85000"/>
              </a:lnSpc>
              <a:tabLst>
                <a:tab algn="l" pos="0"/>
              </a:tabLst>
            </a:pPr>
            <a:r>
              <a:rPr b="1" lang="en-US" sz="6600" spc="-1" strike="noStrike">
                <a:solidFill>
                  <a:srgbClr val="404040"/>
                </a:solidFill>
                <a:latin typeface="Calibri"/>
                <a:ea typeface="Calibri"/>
              </a:rPr>
              <a:t>Thank YOU!!</a:t>
            </a:r>
            <a:endParaRPr b="0" lang="en-US" sz="66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1014480" y="224640"/>
            <a:ext cx="10613880" cy="54540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Queries/Comments/Feedback?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125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LibreOffice/7.6.6.3$Linux_X86_64 LibreOffice_project/d97b2716a9a4a2ce1391dee1765565ea469b0ae7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2026-02-20T12:06:25Z</dcterms:created>
  <dc:creator/>
  <dc:description/>
  <dc:language>en-US</dc:language>
  <cp:lastModifiedBy/>
  <cp:revision>1</cp:revision>
  <dc:subject/>
  <dc:title>DETECTION OF BRAIN TUMOUR IN MRI IMAGE USING COMBINATION OF K-MEANS AND LSTM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4</vt:r8>
  </property>
  <property fmtid="{D5CDD505-2E9C-101B-9397-08002B2CF9AE}" pid="3" name="PresentationFormat">
    <vt:lpwstr>Widescreen</vt:lpwstr>
  </property>
  <property fmtid="{D5CDD505-2E9C-101B-9397-08002B2CF9AE}" pid="4" name="Slides">
    <vt:r8>21</vt:r8>
  </property>
</Properties>
</file>